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 (Branch A Final Conclusion; Branch B Final Conclusion)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 (Data processing; Branch A.1/Final Conclusion notes)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023)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026)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031)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035)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045)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080)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notebook output (cell 108)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118)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Visuals: Notebook outputs (cell 128, 133)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143)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Visuals: Notebook outputs (cell 153, 156)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160)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166)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185)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190)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 (Branch A Final Conclusion)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229)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215)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Visuals: Notebook outputs (cell 218, 219)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222)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238)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248)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
- Visual: Chart from notebook output (cell 249)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 (Branch B Final Conclusion)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notebook: NZ_Airbnb usecase Analysis 10.0.ipynb (Branch A Final Conclusion; review/response analyses)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685800" y="1234440"/>
            <a:ext cx="10820095" cy="42976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762983" y="1234440"/>
            <a:ext cx="999713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600" dirty="0"/>
              <a:t>NZ Airbnb: </a:t>
            </a:r>
            <a:r>
              <a:rPr lang="en-NZ" sz="3600" dirty="0"/>
              <a:t>How</a:t>
            </a:r>
            <a:r>
              <a:rPr lang="zh-CN" altLang="en-US" sz="3600" dirty="0"/>
              <a:t> </a:t>
            </a:r>
            <a:r>
              <a:rPr lang="en-NZ" altLang="zh-CN" sz="3600" dirty="0"/>
              <a:t>to</a:t>
            </a:r>
            <a:r>
              <a:rPr lang="zh-CN" altLang="en-US" sz="3600" dirty="0"/>
              <a:t> </a:t>
            </a:r>
            <a:r>
              <a:rPr lang="en-NZ" altLang="zh-CN" sz="3600" dirty="0"/>
              <a:t>be </a:t>
            </a:r>
            <a:r>
              <a:rPr sz="3600" dirty="0" err="1"/>
              <a:t>Superhost</a:t>
            </a:r>
            <a:r>
              <a:rPr sz="3600" dirty="0"/>
              <a:t> &amp; Market Dynamics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697480"/>
            <a:ext cx="999713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Report — comparative analysis of host behavior, reputation, and supply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703320"/>
            <a:ext cx="999713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dirty="0"/>
              <a:t>Coverage: 47k listings (</a:t>
            </a:r>
            <a:r>
              <a:rPr dirty="0" err="1"/>
              <a:t>Superhost</a:t>
            </a:r>
            <a:r>
              <a:rPr dirty="0"/>
              <a:t> ≈22k; Non</a:t>
            </a:r>
            <a:r>
              <a:rPr lang="en-US" dirty="0"/>
              <a:t> </a:t>
            </a:r>
            <a:r>
              <a:rPr dirty="0" err="1"/>
              <a:t>Superhost</a:t>
            </a:r>
            <a:r>
              <a:rPr dirty="0"/>
              <a:t> ≈24k)</a:t>
            </a:r>
            <a:endParaRPr lang="en-US" sz="1200" dirty="0"/>
          </a:p>
          <a:p>
            <a:r>
              <a:rPr dirty="0"/>
              <a:t>Cut-off: 09</a:t>
            </a:r>
            <a:r>
              <a:rPr lang="en-US" dirty="0"/>
              <a:t>.</a:t>
            </a:r>
            <a:r>
              <a:rPr dirty="0"/>
              <a:t>23 </a:t>
            </a:r>
            <a:r>
              <a:rPr lang="en-US" dirty="0"/>
              <a:t>.2025</a:t>
            </a:r>
            <a:r>
              <a:rPr dirty="0"/>
              <a:t>(some 2025 metrics are partial-year)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How this report answers: “How to become a Superhost &amp; what has changed in the market?”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1505" y="1826895"/>
            <a:ext cx="11094415" cy="1524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40" y="2009775"/>
            <a:ext cx="10637520" cy="1341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r>
              <a:t>Data &amp; Methodology: metric definitions, cleaning and statistical tests</a:t>
            </a:r>
            <a:endParaRPr lang="en-US" sz="1600" dirty="0"/>
          </a:p>
          <a:p>
            <a:r>
              <a:t>Branch A (Host ↔ Features): key differences between </a:t>
            </a:r>
            <a:r>
              <a:rPr>
                <a:highlight>
                  <a:srgbClr val="FFFF00"/>
                </a:highlight>
              </a:rPr>
              <a:t>Superhost</a:t>
            </a:r>
            <a:r>
              <a:t> vs </a:t>
            </a:r>
            <a:r>
              <a:rPr>
                <a:highlight>
                  <a:srgbClr val="FFFF00"/>
                </a:highlight>
              </a:rPr>
              <a:t>Non</a:t>
            </a:r>
            <a:r>
              <a:rPr lang="en-US">
                <a:highlight>
                  <a:srgbClr val="FFFF00"/>
                </a:highlight>
              </a:rPr>
              <a:t>-</a:t>
            </a:r>
            <a:r>
              <a:rPr>
                <a:highlight>
                  <a:srgbClr val="FFFF00"/>
                </a:highlight>
              </a:rPr>
              <a:t>Superhost</a:t>
            </a:r>
            <a:endParaRPr>
              <a:highlight>
                <a:srgbClr val="FFFF00"/>
              </a:highlight>
            </a:endParaRPr>
          </a:p>
          <a:p>
            <a:r>
              <a:t>Branch B (Market ↔ Features): </a:t>
            </a:r>
            <a:r>
              <a:rPr>
                <a:highlight>
                  <a:srgbClr val="FFFF00"/>
                </a:highlight>
              </a:rPr>
              <a:t>2017–2025 </a:t>
            </a:r>
            <a:r>
              <a:t>expansion, entry/exit and structural stability</a:t>
            </a:r>
          </a:p>
          <a:p>
            <a:r>
              <a:t>Action Plan: practical levers for new hosts &amp; platform operations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/>
          <a:lstStyle/>
          <a:p>
            <a:pPr marL="0" indent="0">
              <a:buNone/>
            </a:pPr>
            <a:r>
              <a:t>Top  takeaways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4930140" cy="3449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AutoNum type="arabicPeriod"/>
            </a:pPr>
            <a:r>
              <a:rPr dirty="0" err="1"/>
              <a:t>Superhost</a:t>
            </a:r>
            <a:r>
              <a:rPr dirty="0"/>
              <a:t> advantage is more consistent, more trusted, more reliable delivery</a:t>
            </a:r>
            <a:r>
              <a:rPr lang="en-US" dirty="0"/>
              <a:t>, but </a:t>
            </a:r>
            <a:r>
              <a:rPr dirty="0">
                <a:sym typeface="+mn-ea"/>
              </a:rPr>
              <a:t>not more expensive</a:t>
            </a:r>
            <a:r>
              <a:rPr dirty="0"/>
              <a:t>.</a:t>
            </a:r>
            <a:endParaRPr lang="en-US" sz="1400" dirty="0"/>
          </a:p>
          <a:p>
            <a:pPr marL="342900" indent="-342900">
              <a:buAutoNum type="arabicPeriod"/>
            </a:pPr>
            <a:r>
              <a:rPr dirty="0"/>
              <a:t>Strong threshold effects: near</a:t>
            </a:r>
            <a:r>
              <a:rPr lang="en-US" dirty="0"/>
              <a:t>-</a:t>
            </a:r>
            <a:r>
              <a:rPr dirty="0"/>
              <a:t>perfect </a:t>
            </a:r>
            <a:r>
              <a:rPr dirty="0">
                <a:highlight>
                  <a:srgbClr val="FFFF00"/>
                </a:highlight>
              </a:rPr>
              <a:t>response rate</a:t>
            </a:r>
            <a:r>
              <a:rPr dirty="0"/>
              <a:t> and </a:t>
            </a:r>
            <a:r>
              <a:rPr dirty="0">
                <a:highlight>
                  <a:srgbClr val="FFFF00"/>
                </a:highlight>
              </a:rPr>
              <a:t>faster response time</a:t>
            </a:r>
            <a:r>
              <a:rPr dirty="0"/>
              <a:t> are almost mandatory</a:t>
            </a:r>
            <a:r>
              <a:rPr lang="en-US" dirty="0"/>
              <a:t> to be a superhost</a:t>
            </a:r>
            <a:r>
              <a:rPr dirty="0"/>
              <a:t>.</a:t>
            </a:r>
            <a:endParaRPr dirty="0"/>
          </a:p>
          <a:p>
            <a:pPr marL="342900" indent="-342900">
              <a:buAutoNum type="arabicPeriod"/>
            </a:pPr>
            <a:r>
              <a:rPr dirty="0"/>
              <a:t>Operable </a:t>
            </a:r>
            <a:r>
              <a:rPr lang="en-US" dirty="0"/>
              <a:t>rating</a:t>
            </a:r>
            <a:r>
              <a:rPr dirty="0"/>
              <a:t> gaps:</a:t>
            </a:r>
            <a:r>
              <a:rPr lang="en-US" dirty="0"/>
              <a:t>check in </a:t>
            </a:r>
            <a:r>
              <a:rPr dirty="0">
                <a:highlight>
                  <a:srgbClr val="FFFF00"/>
                </a:highlight>
              </a:rPr>
              <a:t>Cleanliness / Overall /</a:t>
            </a:r>
            <a:r>
              <a:rPr dirty="0">
                <a:highlight>
                  <a:srgbClr val="FFFF00"/>
                </a:highlight>
                <a:sym typeface="+mn-ea"/>
              </a:rPr>
              <a:t> </a:t>
            </a:r>
            <a:r>
              <a:rPr lang="en-US" dirty="0">
                <a:highlight>
                  <a:srgbClr val="FFFF00"/>
                </a:highlight>
                <a:sym typeface="+mn-ea"/>
              </a:rPr>
              <a:t>Value/</a:t>
            </a:r>
            <a:r>
              <a:rPr dirty="0">
                <a:highlight>
                  <a:srgbClr val="FFFF00"/>
                </a:highlight>
              </a:rPr>
              <a:t>  Accuracy</a:t>
            </a:r>
            <a:r>
              <a:rPr dirty="0"/>
              <a:t> show medium effect sizes (Hedges’ g ≈ 0.40–0.46).</a:t>
            </a:r>
            <a:endParaRPr dirty="0"/>
          </a:p>
          <a:p>
            <a:pPr marL="342900" indent="-342900">
              <a:buAutoNum type="arabicPeriod"/>
            </a:pPr>
            <a:r>
              <a:rPr lang="en-US" dirty="0"/>
              <a:t>Recently reviews</a:t>
            </a:r>
            <a:r>
              <a:rPr dirty="0"/>
              <a:t>: </a:t>
            </a:r>
            <a:r>
              <a:rPr dirty="0" err="1"/>
              <a:t>Superhosts</a:t>
            </a:r>
            <a:r>
              <a:rPr dirty="0"/>
              <a:t> have higher review activity in the last 30 days / last 12 months.</a:t>
            </a:r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5921375" y="1143000"/>
            <a:ext cx="5535295" cy="34486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dirty="0"/>
              <a:t>Pricing: 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have ~10–13% higher mean/median price; </a:t>
            </a:r>
            <a:r>
              <a:rPr dirty="0" err="1"/>
              <a:t>Superhosts</a:t>
            </a:r>
            <a:r>
              <a:rPr dirty="0"/>
              <a:t> cluster in NZD 105–215 </a:t>
            </a:r>
            <a:r>
              <a:rPr dirty="0" err="1"/>
              <a:t>midtier</a:t>
            </a:r>
            <a:r>
              <a:rPr lang="en-US" dirty="0" err="1"/>
              <a:t> </a:t>
            </a:r>
            <a:r>
              <a:rPr lang="en-US" altLang="zh-CN" dirty="0"/>
              <a:t>after IQR outlier trimming.</a:t>
            </a:r>
            <a:endParaRPr lang="en-US" altLang="zh-CN" sz="1400" dirty="0"/>
          </a:p>
          <a:p>
            <a:pPr marL="342900" indent="-342900">
              <a:buFont typeface="+mj-lt"/>
              <a:buAutoNum type="arabicPeriod" startAt="5"/>
            </a:pPr>
            <a:r>
              <a:rPr dirty="0"/>
              <a:t>Supply structure: room type and capacity distributions are broadly similar; differences come from performance under the same structure.</a:t>
            </a:r>
            <a:endParaRPr dirty="0"/>
          </a:p>
          <a:p>
            <a:pPr marL="342900" indent="-342900">
              <a:buFont typeface="+mj-lt"/>
              <a:buAutoNum type="arabicPeriod" startAt="5"/>
            </a:pPr>
            <a:r>
              <a:rPr dirty="0"/>
              <a:t>Market: continuous expansion 2017–2025 with acceleration in 2023–2024; </a:t>
            </a:r>
            <a:r>
              <a:rPr lang="en-US" dirty="0"/>
              <a:t>Exit rate</a:t>
            </a:r>
            <a:r>
              <a:rPr dirty="0"/>
              <a:t> is dominated by 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.</a:t>
            </a:r>
            <a:endParaRPr dirty="0"/>
          </a:p>
          <a:p>
            <a:pPr indent="0">
              <a:buFont typeface="+mj-lt"/>
              <a:buNone/>
            </a:pPr>
            <a:endParaRPr dirty="0"/>
          </a:p>
          <a:p>
            <a:pPr indent="0">
              <a:buFont typeface="+mj-lt"/>
              <a:buNone/>
            </a:pPr>
            <a:r>
              <a:rPr dirty="0"/>
              <a:t>Recommendation: prioritize “</a:t>
            </a:r>
            <a:r>
              <a:rPr lang="en-US" dirty="0"/>
              <a:t>check in </a:t>
            </a:r>
            <a:r>
              <a:rPr dirty="0"/>
              <a:t>experience ” (cleaning,</a:t>
            </a:r>
            <a:r>
              <a:rPr lang="en-US" dirty="0"/>
              <a:t>overall</a:t>
            </a:r>
            <a:r>
              <a:rPr dirty="0"/>
              <a:t>, </a:t>
            </a:r>
            <a:r>
              <a:rPr lang="en-US" dirty="0"/>
              <a:t>value</a:t>
            </a:r>
            <a:r>
              <a:rPr dirty="0"/>
              <a:t>s) and</a:t>
            </a:r>
            <a:r>
              <a:rPr lang="en-US" dirty="0"/>
              <a:t> get more </a:t>
            </a:r>
            <a:r>
              <a:rPr dirty="0"/>
              <a:t>“recent</a:t>
            </a:r>
            <a:r>
              <a:rPr lang="en-US" dirty="0"/>
              <a:t>-</a:t>
            </a:r>
            <a:r>
              <a:rPr dirty="0"/>
              <a:t>review</a:t>
            </a:r>
            <a:r>
              <a:rPr lang="en-US" dirty="0"/>
              <a:t>s</a:t>
            </a:r>
            <a:r>
              <a:rPr dirty="0"/>
              <a:t>”.</a:t>
            </a:r>
            <a:endParaRPr dirty="0"/>
          </a:p>
        </p:txBody>
      </p:sp>
      <p:sp>
        <p:nvSpPr>
          <p:cNvPr id="9" name="Shape 7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Data &amp;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Definitions and workflow (applies to all charts)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5466715" cy="38233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/>
              <a:t>Data </a:t>
            </a:r>
            <a:r>
              <a:t>Sample: ~47k listings (Superhost ≈22k; Non</a:t>
            </a:r>
            <a:r>
              <a:rPr lang="en-US"/>
              <a:t>-</a:t>
            </a:r>
            <a:r>
              <a:t>Superhost ≈24k) to enable share comparisons.</a:t>
            </a:r>
            <a:endParaRPr lang="en-US" sz="1400" dirty="0"/>
          </a:p>
          <a:p>
            <a:pPr indent="0">
              <a:buFont typeface="Arial" panose="020B0604020202020204" pitchFamily="34" charset="0"/>
              <a:buNone/>
            </a:pPr>
            <a:r>
              <a:rPr>
                <a:highlight>
                  <a:srgbClr val="FFFF00"/>
                </a:highlight>
              </a:rPr>
              <a:t>Core dimensions:</a:t>
            </a:r>
            <a:endParaRPr>
              <a:highlight>
                <a:srgbClr val="FFFF00"/>
              </a:highlight>
            </a:endParaRPr>
          </a:p>
          <a:p>
            <a:pPr indent="0">
              <a:buFont typeface="Arial" panose="020B0604020202020204" pitchFamily="34" charset="0"/>
              <a:buNone/>
            </a:pPr>
            <a:r>
              <a:t>(A) Operations (response/acceptance/instant bookable); </a:t>
            </a:r>
          </a:p>
          <a:p>
            <a:r>
              <a:t>(B) Reputation (</a:t>
            </a:r>
            <a:r>
              <a:rPr lang="en-US"/>
              <a:t>check in </a:t>
            </a:r>
            <a:r>
              <a:t>ratings + reviews); </a:t>
            </a:r>
          </a:p>
          <a:p>
            <a:r>
              <a:t>(C) Supply structure</a:t>
            </a:r>
            <a:r>
              <a:rPr lang="en-US"/>
              <a:t> </a:t>
            </a:r>
            <a:r>
              <a:t>(price/capacity/amenities/location).</a:t>
            </a:r>
          </a:p>
          <a:p/>
          <a:p>
            <a:r>
              <a:t>Statistics: Welch’s t</a:t>
            </a:r>
            <a:r>
              <a:rPr lang="en-US"/>
              <a:t>-</a:t>
            </a:r>
            <a:r>
              <a:t>test + Hedges’ g (effect size) to quantify “how large is the difference”.</a:t>
            </a:r>
          </a:p>
          <a:p>
            <a:r>
              <a:t>Outliers: IQR (interquartile range) trimming for price and other heavy</a:t>
            </a:r>
            <a:r>
              <a:rPr lang="en-US"/>
              <a:t>-</a:t>
            </a:r>
            <a:r>
              <a:t>tailed metrics.</a:t>
            </a:r>
          </a:p>
        </p:txBody>
      </p:sp>
      <p:sp>
        <p:nvSpPr>
          <p:cNvPr id="7" name="Shape 5"/>
          <p:cNvSpPr/>
          <p:nvPr/>
        </p:nvSpPr>
        <p:spPr>
          <a:xfrm>
            <a:off x="6537960" y="960120"/>
            <a:ext cx="5105095" cy="5166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6766560" y="1143000"/>
            <a:ext cx="483077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How to read the charts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1554480"/>
            <a:ext cx="4830775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t>• Threshold effects: Superhost share rises sharply as metrics approach the maximum.</a:t>
            </a:r>
            <a:endParaRPr lang="en-US" sz="1300" dirty="0"/>
          </a:p>
          <a:p>
            <a:r>
              <a:t>• Effect size: &gt;0.2 small, &gt;0.5 large (rule of thumb).</a:t>
            </a:r>
          </a:p>
          <a:p>
            <a:r>
              <a:t>• Recent reviews: a leading indicator of demand/occupancy (momentum).</a:t>
            </a:r>
          </a:p>
          <a:p>
            <a:r>
              <a:t>• Structure vs performance: even with similar room type/capacity, occupancy/ratings can differ systematically.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865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Branch 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1069207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Host ↔ Features: </a:t>
            </a:r>
            <a:r>
              <a:rPr lang="en-US"/>
              <a:t>H</a:t>
            </a:r>
            <a:r>
              <a:t>ow a new host becomes a Superhost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A.1 Operations: Response rate (strong threshold effect)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99–100% response rate: Superhost </a:t>
            </a:r>
            <a:r>
              <a:rPr>
                <a:highlight>
                  <a:srgbClr val="FFFF00"/>
                </a:highlight>
              </a:rPr>
              <a:t>91.8%</a:t>
            </a:r>
            <a:r>
              <a:t> vs Non</a:t>
            </a:r>
            <a:r>
              <a:rPr lang="en-US"/>
              <a:t>-</a:t>
            </a:r>
            <a:r>
              <a:t>Superhost </a:t>
            </a:r>
            <a:r>
              <a:rPr>
                <a:highlight>
                  <a:srgbClr val="FFFF00"/>
                </a:highlight>
              </a:rPr>
              <a:t>73.4%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686105" y="950976"/>
            <a:ext cx="37338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dirty="0" err="1"/>
              <a:t>Superhosts</a:t>
            </a:r>
            <a:r>
              <a:rPr dirty="0"/>
              <a:t> are highly concentrated in the 99–100% bucket (</a:t>
            </a:r>
            <a:r>
              <a:rPr dirty="0">
                <a:highlight>
                  <a:srgbClr val="FFFF00"/>
                </a:highlight>
              </a:rPr>
              <a:t>~91.8%</a:t>
            </a:r>
            <a:r>
              <a:rPr dirty="0"/>
              <a:t>).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have a much higher share below 95% (</a:t>
            </a:r>
            <a:r>
              <a:rPr dirty="0">
                <a:highlight>
                  <a:srgbClr val="FFFF00"/>
                </a:highlight>
              </a:rPr>
              <a:t>~14%</a:t>
            </a:r>
            <a:r>
              <a:rPr dirty="0"/>
              <a:t>).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Interpretation: </a:t>
            </a:r>
            <a:r>
              <a:rPr dirty="0">
                <a:highlight>
                  <a:srgbClr val="FFFF00"/>
                </a:highlight>
              </a:rPr>
              <a:t>high response rate</a:t>
            </a:r>
            <a:r>
              <a:rPr dirty="0"/>
              <a:t> is an entry ticket</a:t>
            </a:r>
            <a:r>
              <a:rPr lang="en-US" dirty="0"/>
              <a:t> to be a superhost</a:t>
            </a:r>
            <a:r>
              <a:rPr dirty="0"/>
              <a:t>; 100% appears in both groups → </a:t>
            </a:r>
            <a:endParaRPr dirty="0"/>
          </a:p>
          <a:p>
            <a:pPr indent="0">
              <a:buFont typeface="Arial" panose="020B0604020202020204" pitchFamily="34" charset="0"/>
              <a:buNone/>
            </a:pPr>
            <a:r>
              <a:rPr lang="en-US" dirty="0"/>
              <a:t>      </a:t>
            </a:r>
            <a:r>
              <a:rPr dirty="0"/>
              <a:t>a threshold, not sufficient alone.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4444365" y="868680"/>
            <a:ext cx="7198995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0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4365" y="2252345"/>
            <a:ext cx="7061835" cy="2418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A.1 Operations: Response time (speed gap + missingness gap)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Within an hour: Superhost </a:t>
            </a:r>
            <a:r>
              <a:rPr>
                <a:highlight>
                  <a:srgbClr val="FFFF00"/>
                </a:highlight>
              </a:rPr>
              <a:t>18,297</a:t>
            </a:r>
            <a:r>
              <a:t> vs Non</a:t>
            </a:r>
            <a:r>
              <a:rPr lang="en-US"/>
              <a:t>-</a:t>
            </a:r>
            <a:r>
              <a:t>Superhost </a:t>
            </a:r>
            <a:r>
              <a:rPr>
                <a:highlight>
                  <a:srgbClr val="FFFF00"/>
                </a:highlight>
              </a:rPr>
              <a:t>12,468</a:t>
            </a:r>
            <a:r>
              <a:t>; Non</a:t>
            </a:r>
            <a:r>
              <a:rPr lang="en-US"/>
              <a:t>-</a:t>
            </a:r>
            <a:r>
              <a:t>Superhost has far more Unknown/NaN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051559"/>
            <a:ext cx="3733495" cy="265269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dirty="0"/>
              <a:t>Superhost almostly response </a:t>
            </a:r>
            <a:r>
              <a:rPr dirty="0"/>
              <a:t>Within an hour.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lang="en-US" dirty="0" err="1"/>
              <a:t> response time</a:t>
            </a:r>
            <a:r>
              <a:rPr dirty="0"/>
              <a:t> show higher counts in </a:t>
            </a:r>
            <a:r>
              <a:rPr dirty="0">
                <a:highlight>
                  <a:srgbClr val="FFFF00"/>
                </a:highlight>
              </a:rPr>
              <a:t>“Within a day / A few days or more”.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also have much more</a:t>
            </a:r>
            <a:r>
              <a:rPr lang="en-US" dirty="0"/>
              <a:t> </a:t>
            </a:r>
            <a:r>
              <a:rPr dirty="0"/>
              <a:t> </a:t>
            </a:r>
            <a:r>
              <a:rPr dirty="0" err="1"/>
              <a:t>NaN</a:t>
            </a:r>
            <a:r>
              <a:rPr dirty="0"/>
              <a:t>/Unknown, typically indicating incomplete information or unstable response processes.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5059375" y="868680"/>
            <a:ext cx="6583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0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535" y="1828800"/>
            <a:ext cx="630936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A.1 Operations: Acceptance rate (low buckets dominated by Non</a:t>
            </a:r>
            <a:r>
              <a:rPr lang="en-US"/>
              <a:t>-</a:t>
            </a:r>
            <a:r>
              <a:t>Superhosts)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0–80% bucket: Superhost </a:t>
            </a:r>
            <a:r>
              <a:rPr>
                <a:highlight>
                  <a:srgbClr val="FFFF00"/>
                </a:highlight>
              </a:rPr>
              <a:t>4.6%</a:t>
            </a:r>
            <a:r>
              <a:t> vs Non</a:t>
            </a:r>
            <a:r>
              <a:rPr lang="en-US"/>
              <a:t>-</a:t>
            </a:r>
            <a:r>
              <a:t>Superhost </a:t>
            </a:r>
            <a:r>
              <a:rPr>
                <a:highlight>
                  <a:srgbClr val="FFFF00"/>
                </a:highlight>
              </a:rPr>
              <a:t>28.0%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443230" y="1029970"/>
            <a:ext cx="3644900" cy="3159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dirty="0"/>
              <a:t>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are heavily represented in low acceptance (</a:t>
            </a:r>
            <a:r>
              <a:rPr dirty="0">
                <a:highlight>
                  <a:srgbClr val="FFFF00"/>
                </a:highlight>
              </a:rPr>
              <a:t>0–80%, ~28%</a:t>
            </a:r>
            <a:r>
              <a:rPr dirty="0"/>
              <a:t>).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Superhosts</a:t>
            </a:r>
            <a:r>
              <a:rPr dirty="0"/>
              <a:t> concentrate in high </a:t>
            </a:r>
            <a:r>
              <a:rPr lang="en-US" dirty="0"/>
              <a:t>a</a:t>
            </a:r>
            <a:r>
              <a:rPr lang="en-US" dirty="0"/>
              <a:t>cceptance rate around 33.4%+41.8%</a:t>
            </a:r>
            <a:r>
              <a:rPr dirty="0"/>
              <a:t> (95–99% and 100%).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Interpretation: </a:t>
            </a:r>
            <a:r>
              <a:rPr lang="en-US" altLang="zh-CN" dirty="0"/>
              <a:t>Acceptance rate indicates  host's willingness to make a purchase, which affects conversion rate and </a:t>
            </a:r>
            <a:r>
              <a:rPr dirty="0"/>
              <a:t>guest experience.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4391660" y="868680"/>
            <a:ext cx="72517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0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775" y="2188845"/>
            <a:ext cx="7083425" cy="25342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A.1 Operations: Instant Book (helpful, but not decisive)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Within Superhosts: Instant Book</a:t>
            </a:r>
            <a:r>
              <a:rPr>
                <a:highlight>
                  <a:srgbClr val="FFFF00"/>
                </a:highlight>
              </a:rPr>
              <a:t> 9,008</a:t>
            </a:r>
            <a:r>
              <a:t> vs Not instant </a:t>
            </a:r>
            <a:r>
              <a:rPr>
                <a:highlight>
                  <a:srgbClr val="FFFF00"/>
                </a:highlight>
              </a:rPr>
              <a:t>13,083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82675"/>
            <a:ext cx="4015105" cy="24085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Most </a:t>
            </a:r>
            <a:r>
              <a:rPr dirty="0" err="1"/>
              <a:t>Superhosts</a:t>
            </a:r>
            <a:r>
              <a:rPr dirty="0"/>
              <a:t> do NOT require Instant Book (the majority have it off).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The primary differentiators remain consistently high response rate, fast response time, and high acceptance rate.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5059375" y="868680"/>
            <a:ext cx="6583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03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535" y="1759942"/>
            <a:ext cx="6309360" cy="37038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640"/>
            <a:ext cx="12191695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865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Branch A.2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1069207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Reputation &amp; </a:t>
            </a:r>
            <a:r>
              <a:rPr lang="en-US"/>
              <a:t>Review </a:t>
            </a:r>
            <a:r>
              <a:t>Ratings: consistent delivery drives better reputation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A.2 Reputation: Overall</a:t>
            </a:r>
            <a:r>
              <a:rPr lang="en-US"/>
              <a:t> guests experience</a:t>
            </a:r>
            <a:r>
              <a:t> rating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95–100 bucket: Superhost </a:t>
            </a:r>
            <a:r>
              <a:rPr>
                <a:highlight>
                  <a:srgbClr val="FFFF00"/>
                </a:highlight>
              </a:rPr>
              <a:t>89.7%</a:t>
            </a:r>
            <a:r>
              <a:t> vs Non</a:t>
            </a:r>
            <a:r>
              <a:rPr lang="en-US"/>
              <a:t>-</a:t>
            </a:r>
            <a:r>
              <a:t>Superhost </a:t>
            </a:r>
            <a:r>
              <a:rPr>
                <a:highlight>
                  <a:srgbClr val="FFFF00"/>
                </a:highlight>
              </a:rPr>
              <a:t>66.6%</a:t>
            </a:r>
            <a:r>
              <a:t>; 0–90 bucket: 2.0% vs 13.9%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5270" y="1051560"/>
            <a:ext cx="4161155" cy="29368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dirty="0" err="1"/>
              <a:t>Superhosts</a:t>
            </a:r>
            <a:r>
              <a:rPr dirty="0"/>
              <a:t> have a much larger share in the high</a:t>
            </a:r>
            <a:r>
              <a:rPr lang="en-US" dirty="0"/>
              <a:t> overall experience (95-100) </a:t>
            </a:r>
            <a:r>
              <a:rPr dirty="0"/>
              <a:t>score bucket (</a:t>
            </a:r>
            <a:r>
              <a:rPr lang="en-US" dirty="0"/>
              <a:t>89.7%</a:t>
            </a:r>
            <a:r>
              <a:rPr dirty="0"/>
              <a:t>).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have a significantly larger low</a:t>
            </a:r>
            <a:r>
              <a:rPr lang="en-US" dirty="0"/>
              <a:t> overall experience (0-90) </a:t>
            </a:r>
            <a:r>
              <a:rPr dirty="0"/>
              <a:t>score </a:t>
            </a:r>
            <a:r>
              <a:rPr lang="en-US" dirty="0"/>
              <a:t>bucket</a:t>
            </a:r>
            <a:r>
              <a:rPr dirty="0"/>
              <a:t> (</a:t>
            </a:r>
            <a:r>
              <a:rPr lang="en-US" dirty="0"/>
              <a:t>13.9%</a:t>
            </a:r>
            <a:r>
              <a:rPr dirty="0"/>
              <a:t>).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Interpretation: </a:t>
            </a:r>
            <a:r>
              <a:rPr dirty="0" err="1"/>
              <a:t>Superhosts</a:t>
            </a:r>
            <a:r>
              <a:rPr dirty="0"/>
              <a:t> deliver more consistently;</a:t>
            </a:r>
            <a:r>
              <a:rPr lang="en-US" altLang="zh-CN" dirty="0"/>
              <a:t>The proportion of low ratings is even lower.</a:t>
            </a:r>
            <a:r>
              <a:rPr dirty="0"/>
              <a:t>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4462780" y="868680"/>
            <a:ext cx="71805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04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9770" y="2136775"/>
            <a:ext cx="6996430" cy="270954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A.2 Reputation: which dimensions differ most? (Hedges’ g effect size)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/>
              <a:t> </a:t>
            </a:r>
            <a:r>
              <a:t>Cleanliness / Overall / Value / Accuracy show medium effects (~0.40–0.46)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1290" y="988695"/>
            <a:ext cx="4182745" cy="284924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Top gaps: Cleanliness (0.457), Overall (0.447), Value (0.412), Accuracy (0.403).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These </a:t>
            </a:r>
            <a:r>
              <a:rPr lang="en-US" dirty="0"/>
              <a:t>features </a:t>
            </a:r>
            <a:r>
              <a:rPr dirty="0"/>
              <a:t>are operational and improvable.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Communication / Check</a:t>
            </a:r>
            <a:r>
              <a:rPr lang="en-US" dirty="0"/>
              <a:t> </a:t>
            </a:r>
            <a:r>
              <a:rPr dirty="0"/>
              <a:t>in also lead, but with smaller effect sizes.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4369435" y="868680"/>
            <a:ext cx="7273925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08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6900" y="1729740"/>
            <a:ext cx="7099300" cy="376364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A.2 Reputation momentum: </a:t>
            </a:r>
            <a:r>
              <a:rPr lang="en-US"/>
              <a:t>Recently </a:t>
            </a:r>
            <a:r>
              <a:t>Reviews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Compare “median reviews per listing” by host portfolio size bucket (1…10+)</a:t>
            </a:r>
            <a:endParaRPr lang="en-US" sz="1200" dirty="0"/>
          </a:p>
        </p:txBody>
      </p:sp>
      <p:pic>
        <p:nvPicPr>
          <p:cNvPr id="6" name="Image 0" descr="/mnt/data/nb_imgs/cell1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868680"/>
            <a:ext cx="7393940" cy="39185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6375" y="4787265"/>
            <a:ext cx="11732895" cy="1696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dirty="0"/>
              <a:t>Single-listing hosts (1 listing): Superhosts show much higher per-listing medians in total reviews, reviews per month, and last-12-months reviews, and are more likely to have reviews in the last 30 days.</a:t>
            </a:r>
            <a:endParaRPr lang="en-US" altLang="zh-CN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dirty="0"/>
              <a:t>Scaling effect: As portfolio size increases, per-listing review momentum declines for both groups, but Non superhost get steeper drop.</a:t>
            </a:r>
            <a:endParaRPr lang="en-US" altLang="zh-CN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dirty="0"/>
              <a:t>Interpretation: Superhosts are not only “better rated”; they also receive more consistent recent feedback, suggesting steadier occupancy and more reliable service delivery.</a:t>
            </a:r>
            <a:endParaRPr lang="en-US" altLang="zh-CN" dirty="0"/>
          </a:p>
        </p:txBody>
      </p:sp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865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Branch A.3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1069207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Host experience &amp; trust signals: tenure and information completeness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A.3 Host </a:t>
            </a:r>
            <a:r>
              <a:rPr lang="en-US"/>
              <a:t>Experience</a:t>
            </a:r>
            <a:r>
              <a:t> (longer tenure correlates with Superhost share)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10y</a:t>
            </a:r>
            <a:r>
              <a:rPr lang="en-US"/>
              <a:t>ears</a:t>
            </a:r>
            <a:r>
              <a:t>+: Superhost </a:t>
            </a:r>
            <a:r>
              <a:rPr>
                <a:highlight>
                  <a:srgbClr val="FFFF00"/>
                </a:highlight>
              </a:rPr>
              <a:t>22.9%</a:t>
            </a:r>
            <a:r>
              <a:t> vs Non</a:t>
            </a:r>
            <a:r>
              <a:rPr lang="en-US"/>
              <a:t>-</a:t>
            </a:r>
            <a:r>
              <a:t>Superhost </a:t>
            </a:r>
            <a:r>
              <a:rPr>
                <a:highlight>
                  <a:srgbClr val="FFFF00"/>
                </a:highlight>
              </a:rPr>
              <a:t>16.9%</a:t>
            </a:r>
            <a:r>
              <a:t>; &lt;1y</a:t>
            </a:r>
            <a:r>
              <a:rPr lang="en-US"/>
              <a:t>ear</a:t>
            </a:r>
            <a:r>
              <a:t>: 2.0% vs 6.0%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0335" y="1322705"/>
            <a:ext cx="4276725" cy="31616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dirty="0"/>
              <a:t>Most hosts with over 10 years of experience are superhosts.</a:t>
            </a:r>
            <a:endParaRPr lang="en-US" altLang="zh-CN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altLang="zh-CN" dirty="0"/>
              <a:t>Non-superhosts are more common among hosts with less than 1 year of host experience, reflecting that new hosts need time to establish stable operations</a:t>
            </a:r>
            <a:r>
              <a:rPr dirty="0"/>
              <a:t>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Implication: </a:t>
            </a:r>
            <a:r>
              <a:rPr lang="en-US" altLang="zh-CN" dirty="0"/>
              <a:t>New hosts should focus on standardized operations and leveraging recent positive reviews to achieve quick results.</a:t>
            </a:r>
            <a:endParaRPr lang="en-US" altLang="zh-CN" dirty="0"/>
          </a:p>
        </p:txBody>
      </p:sp>
      <p:sp>
        <p:nvSpPr>
          <p:cNvPr id="7" name="Shape 5"/>
          <p:cNvSpPr/>
          <p:nvPr/>
        </p:nvSpPr>
        <p:spPr>
          <a:xfrm>
            <a:off x="4330065" y="868680"/>
            <a:ext cx="7313295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1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7390" y="2265680"/>
            <a:ext cx="6988810" cy="247777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A.3 Trust signals: profile completeness (photo / verification)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Superhosts have fewer “missing info” cases and look more like trusted counterparties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387188" cy="3353123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Image 0" descr="/mnt/data/nb_imgs/cell1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831"/>
            <a:ext cx="5112868" cy="18733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55868" y="868680"/>
            <a:ext cx="5387188" cy="335312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1" descr="/mnt/data/nb_imgs/cell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028" y="1750830"/>
            <a:ext cx="5112868" cy="2213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0060" y="4480559"/>
            <a:ext cx="10637215" cy="132685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Profile photo: “no photo” is ~2.1% for </a:t>
            </a:r>
            <a:r>
              <a:rPr dirty="0" err="1"/>
              <a:t>Superhosts</a:t>
            </a:r>
            <a:r>
              <a:rPr dirty="0"/>
              <a:t> vs ~6.2% for 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Verification count: </a:t>
            </a:r>
            <a:r>
              <a:rPr dirty="0" err="1"/>
              <a:t>Superhosts</a:t>
            </a:r>
            <a:r>
              <a:rPr dirty="0"/>
              <a:t> cluster at 2–3 verifications (</a:t>
            </a:r>
            <a:r>
              <a:rPr dirty="0">
                <a:highlight>
                  <a:srgbClr val="FFFF00"/>
                </a:highlight>
              </a:rPr>
              <a:t>~92.8%</a:t>
            </a:r>
            <a:r>
              <a:rPr dirty="0"/>
              <a:t> vs </a:t>
            </a:r>
            <a:r>
              <a:rPr dirty="0">
                <a:highlight>
                  <a:srgbClr val="FFFF00"/>
                </a:highlight>
              </a:rPr>
              <a:t>~82.4%</a:t>
            </a:r>
            <a:r>
              <a:rPr dirty="0"/>
              <a:t>).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Interpretation: it’s not one specific verification, but the combination of completeness + multiple verifications that increases trust.</a:t>
            </a:r>
            <a:endParaRPr dirty="0"/>
          </a:p>
        </p:txBody>
      </p:sp>
      <p:sp>
        <p:nvSpPr>
          <p:cNvPr id="11" name="Shape 7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8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865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Branch A.4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1069207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Supply structure: price / capacity / amenities / location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A.4 Pricing: price bucket share (Superhosts concentrate in midtier)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After IQR trimming: Non</a:t>
            </a:r>
            <a:r>
              <a:rPr lang="en-US"/>
              <a:t>-</a:t>
            </a:r>
            <a:r>
              <a:t>Superhosts have higher mean/median price (~+10–13%)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9860" y="1056640"/>
            <a:ext cx="4146550" cy="30060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 err="1"/>
              <a:t>Superhosts</a:t>
            </a:r>
            <a:r>
              <a:rPr dirty="0"/>
              <a:t> mainly cluster in NZD 105–215 and </a:t>
            </a:r>
            <a:r>
              <a:rPr lang="en-US" dirty="0"/>
              <a:t>NZD </a:t>
            </a:r>
            <a:r>
              <a:rPr dirty="0"/>
              <a:t>135–182 mid</a:t>
            </a:r>
            <a:r>
              <a:rPr lang="en-US" dirty="0"/>
              <a:t> </a:t>
            </a:r>
            <a:r>
              <a:rPr dirty="0"/>
              <a:t>price ranges.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have a higher share in upper price ranges (</a:t>
            </a:r>
            <a:r>
              <a:rPr lang="en-US" dirty="0"/>
              <a:t>NZD </a:t>
            </a:r>
            <a:r>
              <a:rPr dirty="0"/>
              <a:t>444–597, ≥597).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Implication: </a:t>
            </a:r>
            <a:r>
              <a:rPr dirty="0" err="1"/>
              <a:t>Superhost</a:t>
            </a:r>
            <a:r>
              <a:rPr dirty="0"/>
              <a:t>  is closer to strong value + consistent experience</a:t>
            </a:r>
            <a:r>
              <a:rPr lang="en-US" dirty="0"/>
              <a:t> </a:t>
            </a:r>
            <a:r>
              <a:rPr dirty="0"/>
              <a:t>rather than pure price premium.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4155440" y="868680"/>
            <a:ext cx="8016875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14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2600" y="1429385"/>
            <a:ext cx="7612380" cy="3869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A.4 Capacity &amp; amenities: similar structure, but Superhosts are more fully equipped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Capacity concentrates in 1–4 guests; Superhosts have a higher share of high</a:t>
            </a:r>
            <a:r>
              <a:rPr lang="en-US"/>
              <a:t>-</a:t>
            </a:r>
            <a:r>
              <a:t>amenity listings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387188" cy="346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6" name="Image 0" descr="/mnt/data/nb_imgs/cell1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90915"/>
            <a:ext cx="5112868" cy="25331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55868" y="868680"/>
            <a:ext cx="5387188" cy="346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1" descr="/mnt/data/nb_imgs/cell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028" y="1590915"/>
            <a:ext cx="5112868" cy="253317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39" y="4429976"/>
            <a:ext cx="11094415" cy="1678994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 6"/>
          <p:cNvSpPr/>
          <p:nvPr/>
        </p:nvSpPr>
        <p:spPr>
          <a:xfrm>
            <a:off x="617220" y="4429975"/>
            <a:ext cx="10637215" cy="17064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Capacity: both groups focus on 1–2 and 3–4 guests; 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have relatively more 7+ capacity listings (larger homes but not necessarily better reviews).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Amenities level: </a:t>
            </a:r>
            <a:r>
              <a:rPr dirty="0" err="1"/>
              <a:t>Superhosts</a:t>
            </a:r>
            <a:r>
              <a:rPr dirty="0"/>
              <a:t> are more concentrated in higher amenity buckets.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Implication: amenities alone don’t guarantee </a:t>
            </a:r>
            <a:r>
              <a:rPr dirty="0" err="1"/>
              <a:t>Superhost</a:t>
            </a:r>
            <a:r>
              <a:rPr dirty="0"/>
              <a:t>, but the expected basics + no surprises increases the chance of good reviews and repeat stays.</a:t>
            </a:r>
            <a:endParaRPr dirty="0"/>
          </a:p>
        </p:txBody>
      </p:sp>
      <p:sp>
        <p:nvSpPr>
          <p:cNvPr id="11" name="Shape 7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8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A.4 Location: Region parent (Top 10)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Auckland is the largest market; tourist destinations (e.g., QueenstownLakes) have a higher Superhost share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6105" y="886968"/>
            <a:ext cx="4190695" cy="3761686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40" y="1051559"/>
            <a:ext cx="3733495" cy="35788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Auckland: </a:t>
            </a:r>
            <a:r>
              <a:rPr dirty="0">
                <a:sym typeface="+mn-ea"/>
              </a:rPr>
              <a:t>the most competitive battlefield→ </a:t>
            </a:r>
            <a:r>
              <a:rPr dirty="0"/>
              <a:t>both groups concentrate heavily here.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QueenstownLakes and other destination regions appear in Top 10 and </a:t>
            </a:r>
            <a:r>
              <a:rPr lang="en-US" dirty="0"/>
              <a:t>superhost </a:t>
            </a:r>
            <a:r>
              <a:rPr dirty="0"/>
              <a:t>show a more pronounced share.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Interpretation: </a:t>
            </a:r>
            <a:r>
              <a:rPr lang="en-US" altLang="zh-CN" dirty="0"/>
              <a:t>Popular market relies more on the host's experience and reputation, which makes it easier for superhost to accumulate advantages.</a:t>
            </a:r>
            <a:endParaRPr lang="en-US" altLang="zh-CN" dirty="0"/>
          </a:p>
        </p:txBody>
      </p:sp>
      <p:sp>
        <p:nvSpPr>
          <p:cNvPr id="7" name="Shape 5"/>
          <p:cNvSpPr/>
          <p:nvPr/>
        </p:nvSpPr>
        <p:spPr>
          <a:xfrm>
            <a:off x="5059375" y="868680"/>
            <a:ext cx="6583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16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535" y="1659173"/>
            <a:ext cx="6309360" cy="39054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A.4 Location: Neighbourhood (Top 10)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Supply concentrates in core city clusters (</a:t>
            </a:r>
            <a:r>
              <a:rPr>
                <a:highlight>
                  <a:srgbClr val="FFFF00"/>
                </a:highlight>
              </a:rPr>
              <a:t>Auckland / Christchurch / Queenstown / Wellington)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632460" y="2190114"/>
            <a:ext cx="4190695" cy="2477631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40" y="2281555"/>
            <a:ext cx="3733495" cy="22947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Core city clusters dominate overall supply.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Within the same cluster, </a:t>
            </a:r>
            <a:r>
              <a:rPr dirty="0" err="1"/>
              <a:t>Superhost</a:t>
            </a:r>
            <a:r>
              <a:rPr dirty="0"/>
              <a:t> vs Non</a:t>
            </a:r>
            <a:r>
              <a:rPr lang="en-US" dirty="0"/>
              <a:t>-</a:t>
            </a:r>
            <a:r>
              <a:rPr dirty="0" err="1"/>
              <a:t>Superhost</a:t>
            </a:r>
            <a:r>
              <a:rPr dirty="0"/>
              <a:t> distributions are similar → differences are more driven by operations than by location choice alone.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5059375" y="868680"/>
            <a:ext cx="6583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16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535" y="1645222"/>
            <a:ext cx="6309360" cy="39333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City deep dive: Auckland (property type structure)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Within one city: structure is similar, but Superhosts outperform on amenities/reputation/momentum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39" y="2444750"/>
            <a:ext cx="4190695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40" y="2530474"/>
            <a:ext cx="3733495" cy="224611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Auckland is dominated by </a:t>
            </a:r>
            <a:r>
              <a:rPr dirty="0">
                <a:highlight>
                  <a:srgbClr val="FFFF00"/>
                </a:highlight>
              </a:rPr>
              <a:t>Entire home / Entire rental unit</a:t>
            </a:r>
            <a:r>
              <a:rPr lang="en-US" dirty="0"/>
              <a:t> demands</a:t>
            </a:r>
            <a:r>
              <a:rPr dirty="0"/>
              <a:t>; Non</a:t>
            </a:r>
            <a:r>
              <a:rPr lang="en-US" dirty="0"/>
              <a:t>-</a:t>
            </a:r>
            <a:r>
              <a:rPr dirty="0" err="1"/>
              <a:t>Superhosts</a:t>
            </a:r>
            <a:r>
              <a:rPr dirty="0"/>
              <a:t> have a higher share of Private rooms.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Even under similar structures, </a:t>
            </a:r>
            <a:r>
              <a:rPr dirty="0" err="1"/>
              <a:t>Superhosts</a:t>
            </a:r>
            <a:r>
              <a:rPr dirty="0"/>
              <a:t> build advantage through </a:t>
            </a:r>
            <a:r>
              <a:rPr dirty="0">
                <a:highlight>
                  <a:srgbClr val="FFFF00"/>
                </a:highlight>
              </a:rPr>
              <a:t>consistent delivery + recent reviews</a:t>
            </a:r>
            <a:r>
              <a:rPr dirty="0"/>
              <a:t>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4744085" y="868680"/>
            <a:ext cx="6899275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18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6495" y="1987550"/>
            <a:ext cx="6529705" cy="301815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City deep dive: Queenstown (property type structure)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Destination market: higher share of Entire rental unit / Entire home; operational gaps are amplified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421254"/>
            <a:ext cx="4190695" cy="2380353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40" y="2590799"/>
            <a:ext cx="3733495" cy="222490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highlight>
                  <a:srgbClr val="FFFF00"/>
                </a:highlight>
              </a:rPr>
              <a:t>QueenstownLakes</a:t>
            </a:r>
            <a:r>
              <a:rPr dirty="0"/>
              <a:t> related areas are prominent in Top</a:t>
            </a:r>
            <a:r>
              <a:rPr lang="en-US" dirty="0"/>
              <a:t> </a:t>
            </a:r>
            <a:r>
              <a:rPr dirty="0"/>
              <a:t>10 supply.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Superhosts</a:t>
            </a:r>
            <a:r>
              <a:rPr dirty="0"/>
              <a:t> have larger scale in </a:t>
            </a:r>
            <a:r>
              <a:rPr dirty="0">
                <a:highlight>
                  <a:srgbClr val="FFFF00"/>
                </a:highlight>
              </a:rPr>
              <a:t>entire place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dirty="0"/>
              <a:t>categories, typically aligned with more stable occupancy in a destination market.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5059375" y="868680"/>
            <a:ext cx="6583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0" descr="/mnt/data/nb_imgs/cell1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535" y="2048894"/>
            <a:ext cx="6309360" cy="31259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Branch A recap: drivers ranked by impact (strong → weak)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Prioritize actionable levers first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94415" cy="1767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40" y="1143000"/>
            <a:ext cx="10637215" cy="1539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r>
              <a:t>1) </a:t>
            </a:r>
            <a:r>
              <a:rPr>
                <a:highlight>
                  <a:srgbClr val="FFFF00"/>
                </a:highlight>
              </a:rPr>
              <a:t>Reputation</a:t>
            </a:r>
            <a:r>
              <a:t> quality: Cleanliness / Overall / Value / Accuracy (largest and most operable gaps).</a:t>
            </a:r>
            <a:endParaRPr lang="en-US" sz="1600" dirty="0"/>
          </a:p>
          <a:p>
            <a:r>
              <a:t>2) </a:t>
            </a:r>
            <a:r>
              <a:rPr>
                <a:highlight>
                  <a:srgbClr val="FFFF00"/>
                </a:highlight>
              </a:rPr>
              <a:t>Operations</a:t>
            </a:r>
            <a:r>
              <a:t> thresholds: response rate, response time, acceptance rate (near</a:t>
            </a:r>
            <a:r>
              <a:rPr lang="en-US"/>
              <a:t>-</a:t>
            </a:r>
            <a:r>
              <a:t>perfect is baseline).</a:t>
            </a:r>
          </a:p>
          <a:p>
            <a:r>
              <a:t>3) </a:t>
            </a:r>
            <a:r>
              <a:rPr>
                <a:highlight>
                  <a:srgbClr val="FFFF00"/>
                </a:highlight>
              </a:rPr>
              <a:t>Review</a:t>
            </a:r>
            <a:r>
              <a:t> momentum: recent reviews (30D/LTM) as a demand/occupancy proxy.</a:t>
            </a:r>
          </a:p>
          <a:p>
            <a:r>
              <a:t>4) Trust signals: profile photo + verification + information completeness.</a:t>
            </a:r>
          </a:p>
          <a:p>
            <a:r>
              <a:t>5) Supply structure: room type/capacity/location differ less; performance differs within similar structures.</a:t>
            </a:r>
          </a:p>
        </p:txBody>
      </p:sp>
      <p:sp>
        <p:nvSpPr>
          <p:cNvPr id="7" name="Text 5"/>
          <p:cNvSpPr/>
          <p:nvPr/>
        </p:nvSpPr>
        <p:spPr>
          <a:xfrm>
            <a:off x="320040" y="3048000"/>
            <a:ext cx="110944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Practical playbook for new hosts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616960"/>
            <a:ext cx="11094415" cy="1635976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 7"/>
          <p:cNvSpPr/>
          <p:nvPr/>
        </p:nvSpPr>
        <p:spPr>
          <a:xfrm>
            <a:off x="664845" y="3733800"/>
            <a:ext cx="10637215" cy="1635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r>
              <a:rPr dirty="0"/>
              <a:t>Standardize cleaning and handover SOPs (reduce the low</a:t>
            </a:r>
            <a:r>
              <a:rPr lang="en-US" dirty="0"/>
              <a:t>-</a:t>
            </a:r>
            <a:r>
              <a:rPr dirty="0"/>
              <a:t>score tail).</a:t>
            </a:r>
            <a:endParaRPr lang="en-US" sz="1100" dirty="0"/>
          </a:p>
          <a:p>
            <a:r>
              <a:rPr dirty="0"/>
              <a:t>Keep descriptions accurate (avoid expectation gaps).</a:t>
            </a:r>
            <a:endParaRPr dirty="0"/>
          </a:p>
          <a:p>
            <a:r>
              <a:rPr dirty="0"/>
              <a:t>Make response &amp; acceptance “default 99–100%” via routines/templates.</a:t>
            </a:r>
            <a:endParaRPr dirty="0"/>
          </a:p>
          <a:p>
            <a:r>
              <a:rPr dirty="0"/>
              <a:t>Optimize for recent reviews: pricing/promotions, and minimize cancellation &amp; bad</a:t>
            </a:r>
            <a:r>
              <a:rPr lang="en-US" dirty="0"/>
              <a:t> </a:t>
            </a:r>
            <a:r>
              <a:rPr dirty="0"/>
              <a:t>review risks.</a:t>
            </a:r>
            <a:endParaRPr dirty="0"/>
          </a:p>
        </p:txBody>
      </p:sp>
      <p:sp>
        <p:nvSpPr>
          <p:cNvPr id="10" name="Shape 8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436772" y="633679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dirty="0"/>
              <a:t>Internal analysis (NZ Airbnb </a:t>
            </a:r>
            <a:r>
              <a:rPr dirty="0" err="1"/>
              <a:t>usecase</a:t>
            </a:r>
            <a:r>
              <a:rPr dirty="0"/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865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Branch 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10692079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Market ↔ Features: how the market evolved and whether structure changed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2000" b="1"/>
            </a:pPr>
            <a:r>
              <a:t>B.1 Market expansion: Entries vs exits (Superhost vs Non</a:t>
            </a:r>
            <a:r>
              <a:rPr lang="en-US"/>
              <a:t> </a:t>
            </a:r>
            <a:r>
              <a:t>Superhost)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1400" b="0"/>
            </a:pPr>
            <a:r>
              <a:t>2017–2025 supply keeps expanding; growth accelerates in 2023–2024. 2025 is partial-year (to 09</a:t>
            </a:r>
            <a:r>
              <a:rPr lang="en-US"/>
              <a:t>.</a:t>
            </a:r>
            <a:r>
              <a:t>23).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305" y="2265680"/>
            <a:ext cx="4483735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158115" y="2464435"/>
            <a:ext cx="422211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  <a:defRPr sz="1400"/>
            </a:pPr>
            <a:r>
              <a:t>Both groups surge in 2023–2024: </a:t>
            </a:r>
          </a:p>
          <a:p>
            <a:pPr indent="457200">
              <a:buSzPct val="100000"/>
              <a:buFont typeface="Arial" panose="020B0604020202020204" pitchFamily="34" charset="0"/>
              <a:buNone/>
              <a:defRPr sz="1400"/>
            </a:pPr>
            <a:r>
              <a:t>Superhost entries </a:t>
            </a:r>
            <a:r>
              <a:rPr>
                <a:highlight>
                  <a:srgbClr val="FFFF00"/>
                </a:highlight>
              </a:rPr>
              <a:t>2,177→3,530→4,927</a:t>
            </a:r>
            <a:r>
              <a:t>;</a:t>
            </a:r>
          </a:p>
          <a:p>
            <a:pPr indent="457200">
              <a:buSzPct val="100000"/>
              <a:buFont typeface="Arial" panose="020B0604020202020204" pitchFamily="34" charset="0"/>
              <a:buNone/>
              <a:defRPr sz="1400"/>
            </a:pPr>
            <a:r>
              <a:t>Non</a:t>
            </a:r>
            <a:r>
              <a:rPr lang="en-US"/>
              <a:t> </a:t>
            </a:r>
            <a:r>
              <a:t>Superhost </a:t>
            </a:r>
            <a:r>
              <a:rPr>
                <a:highlight>
                  <a:srgbClr val="FFFF00"/>
                </a:highlight>
              </a:rPr>
              <a:t>2,109→3,518→4,682</a:t>
            </a:r>
            <a:r>
              <a:t>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Exit proxy is concentrated in Non</a:t>
            </a:r>
            <a:r>
              <a:rPr lang="en-US"/>
              <a:t> </a:t>
            </a:r>
            <a:r>
              <a:t>Superhosts (2024 exits: </a:t>
            </a:r>
            <a:r>
              <a:rPr>
                <a:highlight>
                  <a:srgbClr val="FFFF00"/>
                </a:highlight>
              </a:rPr>
              <a:t>628 vs 91</a:t>
            </a:r>
            <a:r>
              <a:rPr lang="en-US">
                <a:highlight>
                  <a:srgbClr val="FFFF00"/>
                </a:highlight>
              </a:rPr>
              <a:t> </a:t>
            </a:r>
            <a:r>
              <a:t>for Superhosts).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Note: exits use a 12</a:t>
            </a:r>
            <a:r>
              <a:rPr lang="en-US"/>
              <a:t> </a:t>
            </a:r>
            <a:r>
              <a:t>month no</a:t>
            </a:r>
            <a:r>
              <a:rPr lang="en-US"/>
              <a:t> </a:t>
            </a:r>
            <a:r>
              <a:t>review rule; 2025 exits are under</a:t>
            </a:r>
            <a:r>
              <a:rPr lang="en-US"/>
              <a:t> </a:t>
            </a:r>
            <a:r>
              <a:t>detected → interpret cautiously.</a:t>
            </a:r>
          </a:p>
        </p:txBody>
      </p:sp>
      <p:sp>
        <p:nvSpPr>
          <p:cNvPr id="7" name="Shape 5"/>
          <p:cNvSpPr/>
          <p:nvPr/>
        </p:nvSpPr>
        <p:spPr>
          <a:xfrm>
            <a:off x="4514215" y="868680"/>
            <a:ext cx="767842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  <p:pic>
        <p:nvPicPr>
          <p:cNvPr id="11" name="Picture 10" descr="s26_entry_exit_super_vs_n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0410" y="1494790"/>
            <a:ext cx="7449820" cy="35191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2000" b="1"/>
            </a:pPr>
            <a:r>
              <a:t>B.1 Entry structure: Pre</a:t>
            </a:r>
            <a:r>
              <a:rPr lang="en-US"/>
              <a:t> </a:t>
            </a:r>
            <a:r>
              <a:t>COVID / COVID</a:t>
            </a:r>
            <a:r>
              <a:rPr lang="en-US"/>
              <a:t> </a:t>
            </a:r>
            <a:r>
              <a:t>era / Post</a:t>
            </a:r>
            <a:r>
              <a:rPr lang="en-US"/>
              <a:t> </a:t>
            </a:r>
            <a:r>
              <a:t>COVID (Entry share)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1400" b="0"/>
            </a:pPr>
            <a:r>
              <a:t>Cohorts: Pre</a:t>
            </a:r>
            <a:r>
              <a:rPr lang="en-US"/>
              <a:t> </a:t>
            </a:r>
            <a:r>
              <a:t>COVID (2017–2019) · COVID</a:t>
            </a:r>
            <a:r>
              <a:rPr lang="en-US"/>
              <a:t> </a:t>
            </a:r>
            <a:r>
              <a:t>era (2020–2022) · Post</a:t>
            </a:r>
            <a:r>
              <a:rPr lang="en-US"/>
              <a:t> </a:t>
            </a:r>
            <a:r>
              <a:t>COVID (2023–2025).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155575" y="2572385"/>
            <a:ext cx="4903470" cy="2319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291465" y="2717800"/>
            <a:ext cx="4533265" cy="19735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  <a:defRPr sz="1400"/>
            </a:pPr>
            <a:r>
              <a:t>Entries are dominated by Post</a:t>
            </a:r>
            <a:r>
              <a:rPr lang="en-US"/>
              <a:t> </a:t>
            </a:r>
            <a:r>
              <a:t>COVID for both groups: Superhost </a:t>
            </a:r>
            <a:r>
              <a:rPr>
                <a:highlight>
                  <a:srgbClr val="FFFF00"/>
                </a:highlight>
              </a:rPr>
              <a:t>5</a:t>
            </a:r>
            <a:r>
              <a:rPr lang="en-US">
                <a:highlight>
                  <a:srgbClr val="FFFF00"/>
                </a:highlight>
              </a:rPr>
              <a:t>3.8</a:t>
            </a:r>
            <a:r>
              <a:rPr>
                <a:highlight>
                  <a:srgbClr val="FFFF00"/>
                </a:highlight>
              </a:rPr>
              <a:t>%</a:t>
            </a:r>
            <a:r>
              <a:t> vs Non</a:t>
            </a:r>
            <a:r>
              <a:rPr lang="en-US"/>
              <a:t> </a:t>
            </a:r>
            <a:r>
              <a:t>Superhost </a:t>
            </a:r>
            <a:r>
              <a:rPr>
                <a:highlight>
                  <a:srgbClr val="FFFF00"/>
                </a:highlight>
              </a:rPr>
              <a:t>5</a:t>
            </a:r>
            <a:r>
              <a:rPr lang="en-US">
                <a:highlight>
                  <a:srgbClr val="FFFF00"/>
                </a:highlight>
              </a:rPr>
              <a:t>6</a:t>
            </a:r>
            <a:r>
              <a:rPr>
                <a:highlight>
                  <a:srgbClr val="FFFF00"/>
                </a:highlight>
              </a:rPr>
              <a:t>.5%</a:t>
            </a:r>
            <a:r>
              <a:t>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Superhosts have a slightly higher Pre</a:t>
            </a:r>
            <a:r>
              <a:rPr lang="en-US"/>
              <a:t> </a:t>
            </a:r>
            <a:r>
              <a:t>COVID share (</a:t>
            </a:r>
            <a:r>
              <a:rPr>
                <a:highlight>
                  <a:srgbClr val="FFFF00"/>
                </a:highlight>
              </a:rPr>
              <a:t>2</a:t>
            </a:r>
            <a:r>
              <a:rPr lang="en-US">
                <a:highlight>
                  <a:srgbClr val="FFFF00"/>
                </a:highlight>
              </a:rPr>
              <a:t>1</a:t>
            </a:r>
            <a:r>
              <a:rPr>
                <a:highlight>
                  <a:srgbClr val="FFFF00"/>
                </a:highlight>
              </a:rPr>
              <a:t>.6%</a:t>
            </a:r>
            <a:r>
              <a:t>) than Non</a:t>
            </a:r>
            <a:r>
              <a:rPr lang="en-US"/>
              <a:t> </a:t>
            </a:r>
            <a:r>
              <a:t>Superhosts (</a:t>
            </a:r>
            <a:r>
              <a:rPr>
                <a:highlight>
                  <a:srgbClr val="FFFF00"/>
                </a:highlight>
              </a:rPr>
              <a:t>21.</a:t>
            </a:r>
            <a:r>
              <a:rPr lang="en-US">
                <a:highlight>
                  <a:srgbClr val="FFFF00"/>
                </a:highlight>
              </a:rPr>
              <a:t>7</a:t>
            </a:r>
            <a:r>
              <a:rPr>
                <a:highlight>
                  <a:srgbClr val="FFFF00"/>
                </a:highlight>
              </a:rPr>
              <a:t>%</a:t>
            </a:r>
            <a:r>
              <a:t>), reflecting accumulated experience.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Implication: growth is broad-based, but experience/reputation still makes it easier for Superhosts to sustain advantage.</a:t>
            </a:r>
          </a:p>
        </p:txBody>
      </p:sp>
      <p:sp>
        <p:nvSpPr>
          <p:cNvPr id="7" name="Shape 5"/>
          <p:cNvSpPr/>
          <p:nvPr/>
        </p:nvSpPr>
        <p:spPr>
          <a:xfrm>
            <a:off x="5059375" y="868680"/>
            <a:ext cx="6583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575" y="861060"/>
            <a:ext cx="5080000" cy="25679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210" y="3429000"/>
            <a:ext cx="5079365" cy="28333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2000" b="1"/>
            </a:pPr>
            <a:r>
              <a:t>B.1 Entry/exit structure: Room type &amp; amenities (Superhost vs Non</a:t>
            </a:r>
            <a:r>
              <a:rPr lang="en-US"/>
              <a:t> </a:t>
            </a:r>
            <a:r>
              <a:t>Superhost)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1400" b="0"/>
            </a:pPr>
            <a:r>
              <a:t>Structure is broadly stable: entries concentrate in the same configurations that dominate the market.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655" y="860425"/>
            <a:ext cx="6062345" cy="4485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7" name="Shape 4"/>
          <p:cNvSpPr/>
          <p:nvPr/>
        </p:nvSpPr>
        <p:spPr>
          <a:xfrm>
            <a:off x="6116955" y="859155"/>
            <a:ext cx="6075045" cy="460057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pic>
        <p:nvPicPr>
          <p:cNvPr id="8" name="Image 1" descr="/mnt/data/nb_imgs/cell2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3094355"/>
            <a:ext cx="5832475" cy="24193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8610" y="5468620"/>
            <a:ext cx="11895455" cy="1039495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 6"/>
          <p:cNvSpPr/>
          <p:nvPr/>
        </p:nvSpPr>
        <p:spPr>
          <a:xfrm>
            <a:off x="393700" y="5502003"/>
            <a:ext cx="10637215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Char char="•"/>
              <a:defRPr sz="1400"/>
            </a:pPr>
            <a:r>
              <a:t>Room type:</a:t>
            </a:r>
            <a:r>
              <a:rPr lang="en-US" altLang="zh-CN"/>
              <a:t>The highest demand in the market are still</a:t>
            </a:r>
            <a:r>
              <a:rPr>
                <a:sym typeface="+mn-ea"/>
              </a:rPr>
              <a:t> Entire home/apt</a:t>
            </a:r>
            <a:r>
              <a:rPr lang="en-US" altLang="zh-CN"/>
              <a:t>s; non-superhosts are showing a clear exit trend across all property types</a:t>
            </a:r>
            <a:r>
              <a:t>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lang="en-US"/>
              <a:t> </a:t>
            </a:r>
            <a:r>
              <a:t>Amenities: Essentials (smoke alarm/Wi</a:t>
            </a:r>
            <a:r>
              <a:rPr lang="en-US"/>
              <a:t> </a:t>
            </a:r>
            <a:r>
              <a:t>Fi/kitchen, etc.) are market basics; Non</a:t>
            </a:r>
            <a:r>
              <a:rPr lang="en-US"/>
              <a:t> </a:t>
            </a:r>
            <a:r>
              <a:t>Superhosts exit more within the same basics set.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Takeaway: supply structure is similar; operational stability differentiates outcomes.</a:t>
            </a:r>
          </a:p>
        </p:txBody>
      </p:sp>
      <p:sp>
        <p:nvSpPr>
          <p:cNvPr id="11" name="Shape 7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8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" y="971550"/>
            <a:ext cx="5938520" cy="21228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495" y="1014095"/>
            <a:ext cx="5709920" cy="23596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955" y="3303905"/>
            <a:ext cx="5945505" cy="20434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240"/>
            <a:ext cx="12192000" cy="10185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>
            <a:endParaRPr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113"/>
            <a:ext cx="11094415" cy="27432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/>
          <a:lstStyle/>
          <a:p>
            <a:pPr marL="0" indent="0">
              <a:buNone/>
              <a:defRPr sz="2000" b="1"/>
            </a:pPr>
            <a:r>
              <a:t>B.1 Spatial pattern: Entry vs exit (Top neighbourhoods, Superhost vs Non</a:t>
            </a:r>
            <a:r>
              <a:rPr lang="en-US"/>
              <a:t> </a:t>
            </a:r>
            <a:r>
              <a:t>Superhost)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89560"/>
            <a:ext cx="11094720" cy="7073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1400" b="0"/>
            </a:pPr>
            <a:r>
              <a:t>Both entry and exit cluster in core cities and tourist hubs (Auckland / Queenstown / Christchurch / Wellington).</a:t>
            </a:r>
            <a:br/>
            <a:r>
              <a:t>• Non</a:t>
            </a:r>
            <a:r>
              <a:rPr lang="en-US"/>
              <a:t> </a:t>
            </a:r>
            <a:r>
              <a:t>Superhosts show heavier exit counts across the same hotspots, indicating higher churn among newer/less-experienced hosts.</a:t>
            </a:r>
            <a:br/>
            <a:r>
              <a:t>• Growth follows demand, but retention is a capability problem (operations + reputation).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05" y="2674620"/>
            <a:ext cx="4667885" cy="264287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40005" y="2993390"/>
            <a:ext cx="4667885" cy="16122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/>
              <a:t>Auckland/Queenstown/Christchurch/</a:t>
            </a:r>
            <a:r>
              <a:rPr lang="en-US" dirty="0"/>
              <a:t> </a:t>
            </a:r>
            <a:r>
              <a:rPr dirty="0"/>
              <a:t>Wellington remain the center of supply change.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Exits concentrate in the same regions → location alone does not explain churn; operations and demand fit matter more.</a:t>
            </a:r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4707890" y="1075690"/>
            <a:ext cx="6935470" cy="527939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9320" y="1109345"/>
            <a:ext cx="6923405" cy="25419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320" y="4046220"/>
            <a:ext cx="6923405" cy="24155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2000" b="1"/>
            </a:pPr>
            <a:r>
              <a:t>B.2 Seasonality: Response time by season (Superhost vs Non</a:t>
            </a:r>
            <a:r>
              <a:rPr lang="en-US"/>
              <a:t> </a:t>
            </a:r>
            <a:r>
              <a:t>Superhost)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1400" b="0"/>
            </a:pPr>
            <a:r>
              <a:t>Fast response is consistently more common for Superhosts; Non</a:t>
            </a:r>
            <a:r>
              <a:rPr lang="en-US"/>
              <a:t> </a:t>
            </a:r>
            <a:r>
              <a:t>Superhosts have a larger slow/unknown share.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635" y="1943735"/>
            <a:ext cx="5059680" cy="275971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0" y="2240280"/>
            <a:ext cx="505904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Char char="•"/>
              <a:defRPr sz="1400"/>
            </a:pPr>
            <a:r>
              <a:t>Superhosts maintain a higher share of “</a:t>
            </a:r>
            <a:r>
              <a:rPr>
                <a:highlight>
                  <a:srgbClr val="FFFF00"/>
                </a:highlight>
              </a:rPr>
              <a:t>within an hour / within a few hours</a:t>
            </a:r>
            <a:r>
              <a:t>” across seasons.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Non</a:t>
            </a:r>
            <a:r>
              <a:rPr lang="en-US"/>
              <a:t> </a:t>
            </a:r>
            <a:r>
              <a:t>Superhosts show more “</a:t>
            </a:r>
            <a:r>
              <a:rPr>
                <a:highlight>
                  <a:srgbClr val="FFFF00"/>
                </a:highlight>
              </a:rPr>
              <a:t>Unknown</a:t>
            </a:r>
            <a:r>
              <a:t>” / slower responses, especially in peak seasons when demand spikes.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Operational discipline (response SLAs) is a persistent differentiator.</a:t>
            </a:r>
          </a:p>
        </p:txBody>
      </p:sp>
      <p:sp>
        <p:nvSpPr>
          <p:cNvPr id="7" name="Shape 5"/>
          <p:cNvSpPr/>
          <p:nvPr/>
        </p:nvSpPr>
        <p:spPr>
          <a:xfrm>
            <a:off x="5086985" y="774700"/>
            <a:ext cx="7089140" cy="55803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3727450"/>
            <a:ext cx="7095490" cy="26123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985" y="819150"/>
            <a:ext cx="7089140" cy="27660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2000" b="1"/>
            </a:pPr>
            <a:r>
              <a:t>B.3 Pricing trend: Entry cohorts by property type (median price)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1400" b="0"/>
            </a:pPr>
            <a:r>
              <a:t>Examples: Entire home · Entire rental unit · Private room in home (Superhost vs Non</a:t>
            </a:r>
            <a:r>
              <a:rPr lang="en-US"/>
              <a:t> </a:t>
            </a:r>
            <a:r>
              <a:t>Superhost).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19685" y="2121535"/>
            <a:ext cx="5079365" cy="241935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0" y="2304415"/>
            <a:ext cx="5215890" cy="22364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Char char="•"/>
              <a:defRPr sz="1400"/>
            </a:pPr>
            <a:r>
              <a:t>Price level is primarily driven by property type; </a:t>
            </a:r>
          </a:p>
          <a:p>
            <a:pPr marL="285750" indent="-285750">
              <a:buSzPct val="100000"/>
              <a:buChar char="•"/>
              <a:defRPr sz="1400"/>
            </a:pPr>
            <a:r>
              <a:t>Superhost vs</a:t>
            </a:r>
            <a:r>
              <a:rPr lang="en-US"/>
              <a:t> </a:t>
            </a:r>
            <a:r>
              <a:t>Non</a:t>
            </a:r>
            <a:r>
              <a:rPr lang="en-US"/>
              <a:t> </a:t>
            </a:r>
            <a:r>
              <a:t>Superhost gaps are smaller than cross</a:t>
            </a:r>
            <a:r>
              <a:rPr lang="en-US"/>
              <a:t> </a:t>
            </a:r>
            <a:r>
              <a:t>type differences.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t>Post</a:t>
            </a:r>
            <a:r>
              <a:rPr lang="en-US"/>
              <a:t> </a:t>
            </a:r>
            <a:r>
              <a:t>COVID cohorts show more volatility; treat 2025 as partial-year.</a:t>
            </a:r>
          </a:p>
          <a:p>
            <a:pPr indent="0">
              <a:buFont typeface="Arial" panose="020B0604020202020204" pitchFamily="34" charset="0"/>
              <a:buNone/>
              <a:defRPr sz="1400"/>
            </a:pPr>
            <a:r>
              <a:t>Implication: structure sets the level; execution (reviews/response) sets the advantage.</a:t>
            </a:r>
          </a:p>
        </p:txBody>
      </p:sp>
      <p:sp>
        <p:nvSpPr>
          <p:cNvPr id="7" name="Shape 5"/>
          <p:cNvSpPr/>
          <p:nvPr/>
        </p:nvSpPr>
        <p:spPr>
          <a:xfrm>
            <a:off x="5059680" y="777240"/>
            <a:ext cx="7145655" cy="5869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680" y="731520"/>
            <a:ext cx="7131685" cy="18440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85" y="2593975"/>
            <a:ext cx="7143750" cy="21177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205" y="4711065"/>
            <a:ext cx="7136130" cy="21469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2000" b="1"/>
            </a:pPr>
            <a:r>
              <a:t>B.3 Pricing trend: Entry cohorts by accommodates (median price)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  <a:defRPr sz="1400" b="0"/>
            </a:pPr>
            <a:r>
              <a:t>Example cohort: accommodates = 9 (Superhost vs Non‑Superhost).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5715" y="2023110"/>
            <a:ext cx="5064760" cy="2967355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-5715" y="2571750"/>
            <a:ext cx="5059045" cy="15570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  <a:defRPr sz="1400"/>
            </a:pPr>
            <a:r>
              <a:t>Larger-capacity listings </a:t>
            </a:r>
            <a:r>
              <a:rPr lang="en-US"/>
              <a:t>with</a:t>
            </a:r>
            <a:r>
              <a:t> higher prices but also </a:t>
            </a:r>
            <a:r>
              <a:rPr lang="en-US" altLang="zh-CN"/>
              <a:t>the greater the price difference between different properties</a:t>
            </a:r>
            <a:r>
              <a:t>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lang="en-US" altLang="zh-CN"/>
              <a:t>Price differences between properties vary from year to year; market conditions determine price levels, while operational performance determines price stability.</a:t>
            </a:r>
            <a:endParaRPr lang="en-US" altLang="zh-CN"/>
          </a:p>
        </p:txBody>
      </p:sp>
      <p:sp>
        <p:nvSpPr>
          <p:cNvPr id="7" name="Shape 5"/>
          <p:cNvSpPr/>
          <p:nvPr/>
        </p:nvSpPr>
        <p:spPr>
          <a:xfrm>
            <a:off x="5059375" y="868680"/>
            <a:ext cx="65836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  <p:pic>
        <p:nvPicPr>
          <p:cNvPr id="11" name="Picture 10" descr="s32_price_trend_accommodates_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840" y="2461895"/>
            <a:ext cx="630936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Branch B recap: expanding market, stable structure, widening operational divergence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Turn findings into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540" y="960120"/>
            <a:ext cx="11637645" cy="233299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441325" y="1143000"/>
            <a:ext cx="11368405" cy="21526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buSzPct val="100000"/>
            </a:pPr>
            <a:r>
              <a:rPr lang="en-US" altLang="zh-CN" dirty="0"/>
              <a:t>1) New listings will continue to expand from 2017 to 2025, with accelerated growth in 2023-2024 (2025 is for some years).</a:t>
            </a:r>
            <a:endParaRPr lang="en-US" altLang="zh-CN" dirty="0"/>
          </a:p>
          <a:p>
            <a:pPr>
              <a:buSzPct val="100000"/>
            </a:pPr>
            <a:r>
              <a:rPr lang="en-US" altLang="zh-CN" dirty="0"/>
              <a:t>2) Asymmetric host attrition: The exit rate of non-Superhosts is relatively high, especially after the COVID-19 pandemic.</a:t>
            </a:r>
            <a:endParaRPr lang="en-US" altLang="zh-CN" dirty="0"/>
          </a:p>
          <a:p>
            <a:pPr>
              <a:buSzPct val="100000"/>
            </a:pPr>
            <a:r>
              <a:rPr lang="en-US" altLang="zh-CN" dirty="0"/>
              <a:t>3) Long-term market demand structure remains stable: Entire properties are preferred, followed by single rooms; market differences mainly stem from performance within the same property structure.</a:t>
            </a:r>
            <a:endParaRPr lang="en-US" altLang="zh-CN" dirty="0"/>
          </a:p>
          <a:p>
            <a:pPr>
              <a:buSzPct val="100000"/>
            </a:pPr>
            <a:r>
              <a:rPr lang="en-US" altLang="zh-CN" dirty="0"/>
              <a:t>4) Within the same market segment: Superhosts have lower year-round availability but higher recent ratings; prices are not necessarily higher.</a:t>
            </a:r>
            <a:endParaRPr lang="en-US" altLang="zh-CN" dirty="0"/>
          </a:p>
        </p:txBody>
      </p:sp>
      <p:sp>
        <p:nvSpPr>
          <p:cNvPr id="7" name="Text 5"/>
          <p:cNvSpPr/>
          <p:nvPr/>
        </p:nvSpPr>
        <p:spPr>
          <a:xfrm>
            <a:off x="441636" y="3613405"/>
            <a:ext cx="110944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dirty="0"/>
              <a:t>Implications for business / operations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540" y="4034790"/>
            <a:ext cx="11604625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 7"/>
          <p:cNvSpPr/>
          <p:nvPr/>
        </p:nvSpPr>
        <p:spPr>
          <a:xfrm>
            <a:off x="441636" y="4124463"/>
            <a:ext cx="10637215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dirty="0"/>
              <a:t>The market is “professionalizing”: stable </a:t>
            </a:r>
            <a:r>
              <a:rPr lang="en-US" dirty="0"/>
              <a:t>hosts</a:t>
            </a:r>
            <a:r>
              <a:rPr dirty="0"/>
              <a:t> stay and scale; unstable </a:t>
            </a:r>
            <a:r>
              <a:rPr lang="en-US" dirty="0"/>
              <a:t>host</a:t>
            </a:r>
            <a:r>
              <a:rPr dirty="0"/>
              <a:t>s exit.</a:t>
            </a:r>
            <a:endParaRPr lang="en-US" sz="1100" dirty="0"/>
          </a:p>
          <a:p>
            <a:r>
              <a:rPr lang="en-US" altLang="zh-CN" dirty="0"/>
              <a:t>Recommended that new hosts improve their response speed, enhance their reputation, and complete their platform information description.</a:t>
            </a:r>
            <a:endParaRPr lang="en-US" altLang="zh-CN" dirty="0"/>
          </a:p>
        </p:txBody>
      </p:sp>
      <p:sp>
        <p:nvSpPr>
          <p:cNvPr id="10" name="Shape 8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B3A66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Action Plan (ready to execute)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11094415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Turn “becoming a Superhost” into a practical 30/60/90</a:t>
            </a:r>
            <a:r>
              <a:rPr lang="en-US"/>
              <a:t> </a:t>
            </a:r>
            <a:r>
              <a:t>day</a:t>
            </a:r>
            <a:r>
              <a:rPr lang="en-US"/>
              <a:t>s</a:t>
            </a:r>
            <a:r>
              <a:t>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37590"/>
            <a:ext cx="5387340" cy="3428365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40" y="1143000"/>
            <a:ext cx="4930140" cy="27920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r>
              <a:rPr lang="en-US" altLang="zh-CN" dirty="0"/>
              <a:t>0–30 days (basic):</a:t>
            </a:r>
            <a:endParaRPr lang="en-US" altLang="zh-CN" dirty="0"/>
          </a:p>
          <a:p>
            <a:pPr marL="228600" indent="-228600">
              <a:buSzPct val="100000"/>
              <a:buChar char="•"/>
            </a:pPr>
            <a:r>
              <a:rPr lang="en-US" altLang="zh-CN" dirty="0">
                <a:highlight>
                  <a:srgbClr val="FFFF00"/>
                </a:highlight>
              </a:rPr>
              <a:t>Response rate/ acceptance rate</a:t>
            </a:r>
            <a:r>
              <a:rPr lang="en-US" altLang="zh-CN" dirty="0"/>
              <a:t>: Aim for 99–100%</a:t>
            </a:r>
            <a:endParaRPr lang="en-US" altLang="zh-CN" dirty="0"/>
          </a:p>
          <a:p>
            <a:pPr marL="228600" indent="-228600">
              <a:buSzPct val="100000"/>
              <a:buChar char="•"/>
            </a:pPr>
            <a:r>
              <a:rPr lang="en-US" altLang="zh-CN" dirty="0">
                <a:highlight>
                  <a:srgbClr val="FFFF00"/>
                </a:highlight>
              </a:rPr>
              <a:t>Response time</a:t>
            </a:r>
            <a:r>
              <a:rPr lang="en-US" altLang="zh-CN" dirty="0"/>
              <a:t>: Target response within 1 hour (using reply templates/quick replies/automatic messages)</a:t>
            </a:r>
            <a:endParaRPr lang="en-US" altLang="zh-CN" dirty="0"/>
          </a:p>
          <a:p>
            <a:pPr marL="228600" indent="-228600">
              <a:buSzPct val="100000"/>
              <a:buChar char="•"/>
            </a:pPr>
            <a:r>
              <a:rPr lang="en-US" altLang="zh-CN" dirty="0"/>
              <a:t>Platform information must be complete: Avatar, identity verification, property description, and check-in rules clearly stated in one go.</a:t>
            </a:r>
            <a:endParaRPr lang="en-US" altLang="zh-CN" dirty="0"/>
          </a:p>
        </p:txBody>
      </p:sp>
      <p:sp>
        <p:nvSpPr>
          <p:cNvPr id="7" name="Shape 5"/>
          <p:cNvSpPr/>
          <p:nvPr/>
        </p:nvSpPr>
        <p:spPr>
          <a:xfrm>
            <a:off x="6120130" y="954405"/>
            <a:ext cx="5915660" cy="3428365"/>
          </a:xfrm>
          <a:prstGeom prst="rect">
            <a:avLst/>
          </a:prstGeom>
          <a:solidFill>
            <a:srgbClr val="F7F9FC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6224905" y="1190625"/>
            <a:ext cx="5706110" cy="29184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r>
              <a:rPr lang="en-US" altLang="zh-CN" dirty="0"/>
              <a:t>30–90 days (Long-term plan):</a:t>
            </a:r>
            <a:endParaRPr lang="en-US" altLang="zh-CN" dirty="0"/>
          </a:p>
          <a:p>
            <a:pPr marL="228600" indent="-228600">
              <a:buSzPct val="100000"/>
              <a:buChar char="•"/>
            </a:pPr>
            <a:r>
              <a:rPr lang="en-US" altLang="zh-CN" dirty="0"/>
              <a:t> Improve property </a:t>
            </a:r>
            <a:r>
              <a:rPr lang="en-US" altLang="zh-CN" dirty="0">
                <a:highlight>
                  <a:srgbClr val="FFFF00"/>
                </a:highlight>
              </a:rPr>
              <a:t>cleanliness</a:t>
            </a:r>
            <a:r>
              <a:rPr lang="en-US" altLang="zh-CN" dirty="0"/>
              <a:t> and enhance the overall guests </a:t>
            </a:r>
            <a:r>
              <a:rPr lang="en-US" altLang="zh-CN" dirty="0">
                <a:highlight>
                  <a:srgbClr val="FFFF00"/>
                </a:highlight>
              </a:rPr>
              <a:t>check in experience</a:t>
            </a:r>
            <a:r>
              <a:rPr lang="en-US" altLang="zh-CN" dirty="0"/>
              <a:t>.</a:t>
            </a:r>
            <a:endParaRPr lang="en-US" altLang="zh-CN" dirty="0"/>
          </a:p>
          <a:p>
            <a:pPr marL="228600" indent="-228600">
              <a:buSzPct val="100000"/>
              <a:buChar char="•"/>
            </a:pPr>
            <a:r>
              <a:rPr lang="en-US" altLang="zh-CN" dirty="0"/>
              <a:t> ImproveNZ Airbnb profile accuracy and value for money.</a:t>
            </a:r>
            <a:endParaRPr lang="en-US" altLang="zh-CN" dirty="0"/>
          </a:p>
          <a:p>
            <a:pPr marL="228600" indent="-228600">
              <a:buSzPct val="100000"/>
              <a:buChar char="•"/>
            </a:pPr>
            <a:r>
              <a:rPr lang="en-US" altLang="zh-CN" dirty="0"/>
              <a:t>Gain more recent reviews: Drive orders with reasonable pricing and small promotions; reduce cancellations and lower the risk of negative reviews.</a:t>
            </a:r>
            <a:endParaRPr lang="en-US" altLang="zh-CN" dirty="0"/>
          </a:p>
          <a:p>
            <a:pPr marL="228600" indent="-228600">
              <a:buSzPct val="100000"/>
              <a:buChar char="•"/>
            </a:pPr>
            <a:r>
              <a:rPr lang="en-US" altLang="zh-CN" dirty="0"/>
              <a:t>Prepare in advance for peak season: Plan ahead for manpower, message response, and check-in arrangements to avoid slow response times.</a:t>
            </a:r>
            <a:endParaRPr lang="en-US" altLang="zh-CN" dirty="0"/>
          </a:p>
        </p:txBody>
      </p:sp>
      <p:sp>
        <p:nvSpPr>
          <p:cNvPr id="9" name="Shape 7"/>
          <p:cNvSpPr/>
          <p:nvPr/>
        </p:nvSpPr>
        <p:spPr>
          <a:xfrm>
            <a:off x="388620" y="4521883"/>
            <a:ext cx="1109441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617220" y="4687762"/>
            <a:ext cx="106372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dirty="0"/>
              <a:t>Suggested North</a:t>
            </a:r>
            <a:r>
              <a:rPr lang="en-US" dirty="0"/>
              <a:t> </a:t>
            </a:r>
            <a:r>
              <a:rPr dirty="0"/>
              <a:t>Star metrics (platform/ops)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" y="5118687"/>
            <a:ext cx="10637215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dirty="0"/>
              <a:t>• Recent reviews per listing (30D and LTM) as demand momentum</a:t>
            </a:r>
            <a:endParaRPr lang="en-US" sz="1200" dirty="0"/>
          </a:p>
          <a:p>
            <a:r>
              <a:rPr dirty="0"/>
              <a:t>• Experience consistency: share of low</a:t>
            </a:r>
            <a:r>
              <a:rPr lang="en-US" dirty="0"/>
              <a:t> </a:t>
            </a:r>
            <a:r>
              <a:rPr dirty="0"/>
              <a:t>score tail for Cleanliness/Accuracy/Value</a:t>
            </a:r>
            <a:endParaRPr dirty="0"/>
          </a:p>
          <a:p>
            <a:r>
              <a:rPr dirty="0"/>
              <a:t>• Threshold compliance: share with &lt;95% response or &lt;90% acceptance (lower is better)</a:t>
            </a:r>
            <a:endParaRPr dirty="0"/>
          </a:p>
        </p:txBody>
      </p:sp>
      <p:sp>
        <p:nvSpPr>
          <p:cNvPr id="12" name="Shape 10"/>
          <p:cNvSpPr/>
          <p:nvPr/>
        </p:nvSpPr>
        <p:spPr>
          <a:xfrm>
            <a:off x="548640" y="6629400"/>
            <a:ext cx="11094415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548640" y="6656832"/>
            <a:ext cx="1109441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t>Internal analysis (NZ Airbnb usecase)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816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Calibri" panose="020F0502020204030204"/>
              </a:rPr>
              <a:t>Machine Learning Validation (Blocks A–D)</a:t>
            </a:r>
            <a:endParaRPr sz="3400" b="1">
              <a:latin typeface="Calibri" panose="020F05020202040302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521440" cy="2401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190"/>
                <a:gridCol w="2066290"/>
                <a:gridCol w="1920240"/>
                <a:gridCol w="192024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 panose="020F0502020204030204"/>
                        </a:defRPr>
                      </a:pPr>
                      <a: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 panose="020F0502020204030204"/>
                        </a:defRPr>
                      </a:pPr>
                      <a: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 panose="020F0502020204030204"/>
                        </a:defRPr>
                      </a:pPr>
                      <a: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 panose="020F0502020204030204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 panose="020F0502020204030204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 panose="020F0502020204030204"/>
                        </a:defRPr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C_activity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highlight>
                            <a:srgbClr val="FFFF00"/>
                          </a:highlight>
                        </a:rPr>
                        <a:t>Strongest </a:t>
                      </a:r>
                      <a:r>
                        <a:rPr sz="1600"/>
                        <a:t>signal: recent review momentum &amp; recency</a:t>
                      </a:r>
                      <a:endParaRPr sz="1600"/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t>D_listing (HGB)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0.6415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highlight>
                            <a:srgbClr val="FFFF00"/>
                          </a:highlight>
                        </a:rPr>
                        <a:t>Medium</a:t>
                      </a:r>
                      <a:r>
                        <a:rPr sz="1600"/>
                        <a:t>: location + price + property structure</a:t>
                      </a:r>
                      <a:endParaRPr sz="1600"/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t>A_response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highlight>
                            <a:srgbClr val="FFFF00"/>
                          </a:highlight>
                        </a:rPr>
                        <a:t>Base</a:t>
                      </a:r>
                      <a:r>
                        <a:rPr sz="1600"/>
                        <a:t>:acceptance/</a:t>
                      </a:r>
                      <a:endParaRPr sz="1600"/>
                    </a:p>
                    <a:p>
                      <a:r>
                        <a:rPr sz="1600"/>
                        <a:t>response quality</a:t>
                      </a:r>
                      <a:r>
                        <a:rPr lang="en-US" sz="1600"/>
                        <a:t> </a:t>
                      </a:r>
                      <a:r>
                        <a:rPr sz="1600"/>
                        <a:t>matters</a:t>
                      </a:r>
                      <a:endParaRPr sz="1600"/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t>B_</a:t>
                      </a:r>
                      <a:r>
                        <a:rPr lang="en-US"/>
                        <a:t>score </a:t>
                      </a:r>
                      <a:r>
                        <a:t>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highlight>
                            <a:srgbClr val="FFFF00"/>
                          </a:highlight>
                        </a:rPr>
                        <a:t>Weakest</a:t>
                      </a:r>
                      <a:r>
                        <a:rPr sz="1600"/>
                        <a:t>: ratings have ceiling effect; still actionable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63185"/>
            <a:ext cx="11338560" cy="1206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>
                <a:latin typeface="Calibri" panose="020F0502020204030204"/>
              </a:defRPr>
            </a:pPr>
            <a:r>
              <a:t>Key message: Superhost status is best explained by sustained review momentum (last 12 months / recent reviews),then structural factors (location + pricing + room/property type).</a:t>
            </a:r>
          </a:p>
          <a:p>
            <a:pPr>
              <a:defRPr sz="1800">
                <a:latin typeface="Calibri" panose="020F0502020204030204"/>
              </a:defRPr>
            </a:pPr>
            <a:r>
              <a:t>Operational response/acceptance is a necessary baseline, while ratings are actionable levers (especially cleanliness) but less predictive alone.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Calibri" panose="020F0502020204030204"/>
              </a:rPr>
              <a:t>Final Leadership Takeaways &amp; Priorities</a:t>
            </a:r>
            <a:endParaRPr sz="3400" b="1"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4150" y="927100"/>
            <a:ext cx="11520170" cy="56121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>
                <a:latin typeface="Calibri" panose="020F0502020204030204"/>
              </a:defRPr>
            </a:pPr>
            <a:r>
              <a:t>Priority 1 — Review Momentum (largest impact):</a:t>
            </a:r>
          </a:p>
          <a:p>
            <a:pPr lvl="1">
              <a:defRPr sz="1800">
                <a:latin typeface="Calibri" panose="020F0502020204030204"/>
              </a:defRPr>
            </a:pPr>
            <a:r>
              <a:t>Drive steady recent reviews (30D) and strong 12</a:t>
            </a:r>
            <a:r>
              <a:rPr lang="en-US"/>
              <a:t> </a:t>
            </a:r>
            <a:r>
              <a:t>month review volume (LTM); reduce 'days since last review'.</a:t>
            </a:r>
          </a:p>
          <a:p>
            <a:pPr lvl="1">
              <a:defRPr sz="1800">
                <a:latin typeface="Calibri" panose="020F0502020204030204"/>
              </a:defRPr>
            </a:pPr>
            <a:r>
              <a:t>This is the strongest differentiator between Superhost vs Non‑Superhost.</a:t>
            </a:r>
          </a:p>
          <a:p>
            <a:pPr>
              <a:defRPr sz="1800">
                <a:latin typeface="Calibri" panose="020F0502020204030204"/>
              </a:defRPr>
            </a:pPr>
            <a:r>
              <a:t>Priority 2 — Location &amp; Pricing (structural strategy):</a:t>
            </a:r>
          </a:p>
          <a:p>
            <a:pPr lvl="1">
              <a:defRPr sz="1800">
                <a:latin typeface="Calibri" panose="020F0502020204030204"/>
              </a:defRPr>
            </a:pPr>
            <a:r>
              <a:t>Within each region/segment, optimize value</a:t>
            </a:r>
            <a:r>
              <a:rPr lang="en-US"/>
              <a:t> </a:t>
            </a:r>
            <a:r>
              <a:t>for</a:t>
            </a:r>
            <a:r>
              <a:rPr lang="en-US"/>
              <a:t> </a:t>
            </a:r>
            <a:r>
              <a:t>money and pricing; avoid high</a:t>
            </a:r>
            <a:r>
              <a:rPr lang="en-US"/>
              <a:t> </a:t>
            </a:r>
            <a:r>
              <a:t>price / low</a:t>
            </a:r>
            <a:r>
              <a:rPr lang="en-US"/>
              <a:t> </a:t>
            </a:r>
            <a:r>
              <a:t>review traps.</a:t>
            </a:r>
          </a:p>
          <a:p>
            <a:pPr>
              <a:defRPr sz="1800">
                <a:latin typeface="Calibri" panose="020F0502020204030204"/>
              </a:defRPr>
            </a:pPr>
            <a:r>
              <a:t>Priority 3 — Operational Thresholds (entry ticket):</a:t>
            </a:r>
          </a:p>
          <a:p>
            <a:pPr lvl="1">
              <a:defRPr sz="1800">
                <a:latin typeface="Calibri" panose="020F0502020204030204"/>
              </a:defRPr>
            </a:pPr>
            <a:r>
              <a:t>Maintain near</a:t>
            </a:r>
            <a:r>
              <a:rPr lang="en-US"/>
              <a:t> </a:t>
            </a:r>
            <a:r>
              <a:t>perfect response rate, fast response time, and high acceptance rate using templates/SOPs.</a:t>
            </a:r>
          </a:p>
          <a:p>
            <a:pPr>
              <a:defRPr sz="1800">
                <a:latin typeface="Calibri" panose="020F0502020204030204"/>
              </a:defRPr>
            </a:pPr>
            <a:r>
              <a:t>Priority 4 — Reputation Improvements (most actionable rating lever):</a:t>
            </a:r>
          </a:p>
          <a:p>
            <a:pPr lvl="1">
              <a:defRPr sz="1800">
                <a:latin typeface="Calibri" panose="020F0502020204030204"/>
              </a:defRPr>
            </a:pPr>
            <a:r>
              <a:t>Focus on Cleanliness + Accuracy + Value alignment to reduce the low</a:t>
            </a:r>
            <a:r>
              <a:rPr lang="en-US"/>
              <a:t> </a:t>
            </a:r>
            <a:r>
              <a:t>score tail and protect momentum.</a:t>
            </a:r>
          </a:p>
          <a:p>
            <a:pPr>
              <a:defRPr sz="1800">
                <a:latin typeface="Calibri" panose="020F0502020204030204"/>
              </a:defRPr>
            </a:pPr>
            <a:r>
              <a:t>Recommended North Star metrics for ops:</a:t>
            </a:r>
          </a:p>
          <a:p>
            <a:pPr lvl="1">
              <a:defRPr sz="1800">
                <a:latin typeface="Calibri" panose="020F0502020204030204"/>
              </a:defRPr>
            </a:pPr>
            <a:r>
              <a:t>Recent reviews per listing (30D &amp; LTM), share below threshold (&lt;95% response; &lt;90% acceptance), and low‑score tail share for cleanliness/accuracy/value.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18020</Words>
  <Application>WPS 演示</Application>
  <PresentationFormat>Widescreen</PresentationFormat>
  <Paragraphs>433</Paragraphs>
  <Slides>36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微软雅黑</vt:lpstr>
      <vt:lpstr>Arial Unicode MS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ChatGPT</dc:creator>
  <dc:subject>PptxGenJS Presentation</dc:subject>
  <cp:lastModifiedBy>DMQ</cp:lastModifiedBy>
  <cp:revision>21</cp:revision>
  <dcterms:created xsi:type="dcterms:W3CDTF">2025-12-29T07:41:00Z</dcterms:created>
  <dcterms:modified xsi:type="dcterms:W3CDTF">2026-01-12T16:43:20Z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6337DF9FC48E486AAEE484A8DDC150A9_12</vt:lpwstr>
  </property>
</Properties>
</file>